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MarketCast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612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B71"/>
                </a:solidFill>
                <a:latin typeface="Aptos"/>
              </a:defRPr>
            </a:pPr>
            <a:r>
              <a:t>Four daily markets · fourteen models · three forecast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32B36"/>
                </a:solidFill>
                <a:latin typeface="Aptos"/>
              </a:defRPr>
            </a:pPr>
            <a:r>
              <a:t>How does forecast behavior change across asset class and horizon?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7379"/>
                </a:solidFill>
                <a:latin typeface="Aptos"/>
              </a:defRPr>
            </a:pPr>
            <a:r>
              <a:t>Historical evaluation,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Four series, four observation calendars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32B36"/>
                </a:solidFill>
                <a:latin typeface="Aptos"/>
              </a:defRPr>
            </a:pPr>
            <a:r>
              <a:t>BTC/USD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916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D2B30"/>
                </a:solidFill>
                <a:latin typeface="Aptos"/>
              </a:defRPr>
            </a:pPr>
            <a:r>
              <a:t>Seven-day crypto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24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32B36"/>
                </a:solidFill>
                <a:latin typeface="Aptos"/>
              </a:defRPr>
            </a:pPr>
            <a:r>
              <a:t>SPY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249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D2B30"/>
                </a:solidFill>
                <a:latin typeface="Aptos"/>
              </a:defRPr>
            </a:pPr>
            <a:r>
              <a:t>Adjusted ETF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5818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32B36"/>
                </a:solidFill>
                <a:latin typeface="Aptos"/>
              </a:defRPr>
            </a:pPr>
            <a:r>
              <a:t>EUR/USD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758183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D2B30"/>
                </a:solidFill>
                <a:latin typeface="Aptos"/>
              </a:defRPr>
            </a:pPr>
            <a:r>
              <a:t>ECB reference fixing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914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32B36"/>
                </a:solidFill>
                <a:latin typeface="Aptos"/>
              </a:defRPr>
            </a:pPr>
            <a:r>
              <a:t>WTI Cushing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79145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D2B30"/>
                </a:solidFill>
                <a:latin typeface="Aptos"/>
              </a:defRPr>
            </a:pPr>
            <a:r>
              <a:t>EIA spot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07379"/>
                </a:solidFill>
                <a:latin typeface="Aptos"/>
              </a:defRPr>
            </a:pPr>
            <a:r>
              <a:t>Horizon counts future observed sessions. Missing market dates stay missing.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One defensible evaluation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D2B30"/>
                </a:solidFill>
                <a:latin typeface="Aptos"/>
              </a:defRPr>
            </a:pPr>
            <a:r>
              <a:t>Three expanding validation folds per asset</a:t>
            </a:r>
          </a:p>
          <a:p>
            <a:pPr>
              <a:spcAft>
                <a:spcPts val="1000"/>
              </a:spcAft>
              <a:defRPr sz="2200" b="0">
                <a:solidFill>
                  <a:srgbClr val="1D2B30"/>
                </a:solidFill>
                <a:latin typeface="Aptos"/>
              </a:defRPr>
            </a:pPr>
            <a:r>
              <a:t>Twenty observations per fold and locked holdout</a:t>
            </a:r>
          </a:p>
          <a:p>
            <a:pPr>
              <a:spcAft>
                <a:spcPts val="1000"/>
              </a:spcAft>
              <a:defRPr sz="2200" b="0">
                <a:solidFill>
                  <a:srgbClr val="1D2B30"/>
                </a:solidFill>
                <a:latin typeface="Aptos"/>
              </a:defRPr>
            </a:pPr>
            <a:r>
              <a:t>Same target timestamps across models within an asset</a:t>
            </a:r>
          </a:p>
          <a:p>
            <a:pPr>
              <a:spcAft>
                <a:spcPts val="1000"/>
              </a:spcAft>
              <a:defRPr sz="2200" b="0">
                <a:solidFill>
                  <a:srgbClr val="1D2B30"/>
                </a:solidFill>
                <a:latin typeface="Aptos"/>
              </a:defRPr>
            </a:pPr>
            <a:r>
              <a:t>Recursive forecasts at 1, 5 and 20 observed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9612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7379"/>
                </a:solidFill>
                <a:latin typeface="Aptos"/>
              </a:defRPr>
            </a:pPr>
            <a:r>
              <a:t>672 saved metric rows reproduced from fold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Model families and controlled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Baselines: last value, drift, seasonal naive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Statistical: exponential smoothing, Holt-Winters, ARIMA, SARIMA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Lag models: Ridge, Lasso, Random Forest, XGBoost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PyTorch sequences: RNN, LSTM, GRU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Small networks and fixed statistical orders bound 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Recommendations differ by asset and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612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B71"/>
                </a:solidFill>
                <a:latin typeface="Aptos"/>
              </a:defRPr>
            </a:pPr>
            <a:r>
              <a:t>Selected on validation mean RMSE and fold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18300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2708910"/>
                <a:gridCol w="2708910"/>
                <a:gridCol w="2708910"/>
              </a:tblGrid>
              <a:tr h="6675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Asset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128016" marT="91440"/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crypto:BTC-USD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holt_winters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128016" marT="91440"/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equity:SPY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forex:EUR-USD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last_value</a:t>
                      </a:r>
                    </a:p>
                  </a:txBody>
                  <a:tcPr marL="128016" marT="91440"/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oil:WTI-CUSHING-SPOT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128016" marT="91440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D2B30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128016" marT="9144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07379"/>
                </a:solidFill>
                <a:latin typeface="Aptos"/>
              </a:defRPr>
            </a:pPr>
            <a:r>
              <a:t>Complex models need at least a 5% validation gain on mean and mean plus one standard deviation.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Validation gains can reverse on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612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B71"/>
                </a:solidFill>
                <a:latin typeface="Aptos"/>
              </a:defRPr>
            </a:pPr>
            <a:r>
              <a:t>Fold spread and final-test results must be read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pic>
        <p:nvPicPr>
          <p:cNvPr id="6" name="Picture 5" descr="relative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9144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0819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007379"/>
                </a:solidFill>
                <a:latin typeface="Aptos"/>
              </a:defRPr>
            </a:pPr>
            <a:r>
              <a:t>BTC and WTI longer-horizon XGBoost selections weakened on the locked holdout.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Failure cases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Three folds and one short holdout leave ranking uncertainty.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Recursive 20-step errors can compound.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ECB fixes and EIA spot assessments differ from exchange closes.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BTC provenance and SPY redistribution remain unresolved.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One FX statistical fit produced a convergence warning.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Reproduce and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python main.py four-markets --config configs/four_asset_full.json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python main.py audit-four-markets</a:t>
            </a:r>
          </a:p>
          <a:p>
            <a:pPr>
              <a:spcAft>
                <a:spcPts val="1000"/>
              </a:spcAft>
              <a:defRPr sz="2100" b="0">
                <a:solidFill>
                  <a:srgbClr val="1D2B30"/>
                </a:solidFill>
                <a:latin typeface="Aptos"/>
              </a:defRPr>
            </a:pPr>
            <a:r>
              <a:t>python main.py build-deliverables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7379"/>
                </a:solidFill>
                <a:latin typeface="Aptos"/>
              </a:defRPr>
            </a:pPr>
            <a:r>
              <a:t>The dashboard and report use the same four run IDs in artifacts/phase3/run_index.json.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B3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B6B71"/>
                </a:solidFill>
                <a:latin typeface="Aptos"/>
              </a:defRPr>
            </a:pPr>
            <a:r>
              <a:t>MarketCast Lab  ·  Educational analysis  ·  Source: saved Phase 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32B36"/>
                </a:solidFill>
                <a:latin typeface="Aptos"/>
              </a:defRPr>
            </a:pPr>
            <a:r>
              <a:t>Select by asset and horizon.</a:t>
            </a:r>
          </a:p>
          <a:p>
            <a:pPr>
              <a:spcAft>
                <a:spcPts val="1000"/>
              </a:spcAft>
              <a:defRPr sz="2500" b="1">
                <a:solidFill>
                  <a:srgbClr val="132B36"/>
                </a:solidFill>
                <a:latin typeface="Aptos"/>
              </a:defRPr>
            </a:pPr>
            <a:r>
              <a:t>Inspect fold variation before trusting a small gain.</a:t>
            </a:r>
          </a:p>
          <a:p>
            <a:pPr>
              <a:spcAft>
                <a:spcPts val="1000"/>
              </a:spcAft>
              <a:defRPr sz="2500" b="1">
                <a:solidFill>
                  <a:srgbClr val="132B36"/>
                </a:solidFill>
                <a:latin typeface="Aptos"/>
              </a:defRPr>
            </a:pPr>
            <a:r>
              <a:t>Treat a holdout reversal as evidence of instability.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13832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07379"/>
                </a:solidFill>
                <a:latin typeface="Aptos"/>
              </a:defRPr>
            </a:pPr>
            <a:r>
              <a:t>Historical analysis only. No trading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